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F1F5F9"/>
                </a:solidFill>
                <a:latin typeface="Arial"/>
              </a:defRPr>
            </a:pPr>
            <a:r>
              <a:rPr sz="1300" b="0" i="0" u="none" strike="noStrike">
                <a:solidFill>
                  <a:srgbClr val="F1F5F9"/>
                </a:solidFill>
                <a:latin typeface="Arial"/>
              </a:rPr>
              <a:t>Regression Coefficients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 Impact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4B8A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TV</c:v>
                  </c:pt>
                  <c:pt idx="1">
                    <c:v>Radio</c:v>
                  </c:pt>
                  <c:pt idx="2">
                    <c:v>Newspaper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3.91</c:v>
                </c:pt>
                <c:pt idx="1">
                  <c:v>2.8</c:v>
                </c:pt>
                <c:pt idx="2">
                  <c:v>0.05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33415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2D2D2D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-731520"/>
            <a:ext cx="2560320" cy="2560320"/>
          </a:xfrm>
          <a:prstGeom prst="ellipse">
            <a:avLst/>
          </a:prstGeom>
          <a:solidFill>
            <a:srgbClr val="2E7D32">
              <a:alpha val="20000"/>
            </a:srgbClr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321040" y="365760"/>
            <a:ext cx="1463040" cy="1463040"/>
          </a:xfrm>
          <a:prstGeom prst="ellipse">
            <a:avLst/>
          </a:prstGeom>
          <a:solidFill>
            <a:srgbClr val="66BB6A">
              <a:alpha val="30000"/>
            </a:srgbClr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9144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600" kern="0" dirty="0">
                <a:solidFill>
                  <a:srgbClr val="66BB6A"/>
                </a:solidFill>
              </a:rPr>
              <a:t>TASK 4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11480" y="1417320"/>
            <a:ext cx="7772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Sales Prediction</a:t>
            </a:r>
            <a:endParaRPr lang="en-US" sz="4000" dirty="0"/>
          </a:p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Using Advertising Data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411480" y="3246120"/>
            <a:ext cx="1828800" cy="54864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340156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E9E9E"/>
                </a:solidFill>
              </a:rPr>
              <a:t>Regression Modeling  •  Business Insights  •  Sales Forecasting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1480" y="4480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2E7D32"/>
                </a:solidFill>
              </a:rPr>
              <a:t>Python  |  Scikit-learn  |  Streamlit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320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2E7D32"/>
                </a:solidFill>
              </a:rPr>
              <a:t>PROJECT OVERVIEW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20040" y="7132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What This Project Does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508760"/>
            <a:ext cx="4206240" cy="1371600"/>
          </a:xfrm>
          <a:prstGeom prst="rect">
            <a:avLst/>
          </a:prstGeom>
          <a:solidFill>
            <a:srgbClr val="2D2D2D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508760"/>
            <a:ext cx="54864" cy="137160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6916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6BB6A"/>
                </a:solidFill>
              </a:rPr>
              <a:t>📊  Predict Future Sales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210312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</a:rPr>
              <a:t>Forecast sales from TV, Radio &amp; Newspaper ad spend using Linear Regression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800600" y="1508760"/>
            <a:ext cx="4206240" cy="1371600"/>
          </a:xfrm>
          <a:prstGeom prst="rect">
            <a:avLst/>
          </a:prstGeom>
          <a:solidFill>
            <a:srgbClr val="2D2D2D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00600" y="1508760"/>
            <a:ext cx="54864" cy="137160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1" name="Text 9"/>
          <p:cNvSpPr/>
          <p:nvPr/>
        </p:nvSpPr>
        <p:spPr>
          <a:xfrm>
            <a:off x="4983480" y="16916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6BB6A"/>
                </a:solidFill>
              </a:rPr>
              <a:t>🧹  Data Preparation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983480" y="210312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</a:rPr>
              <a:t>Clean, transform and scale features using StandardScaler for model readiness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0040" y="3063240"/>
            <a:ext cx="4206240" cy="1371600"/>
          </a:xfrm>
          <a:prstGeom prst="rect">
            <a:avLst/>
          </a:prstGeom>
          <a:solidFill>
            <a:srgbClr val="2D2D2D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" y="3063240"/>
            <a:ext cx="54864" cy="137160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32461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6BB6A"/>
                </a:solidFill>
              </a:rPr>
              <a:t>🤖  Regression Modeling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02920" y="365760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</a:rPr>
              <a:t>Train a Linear Regression model and evaluate with MAE, MSE, RMSE and R²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800600" y="3063240"/>
            <a:ext cx="4206240" cy="1371600"/>
          </a:xfrm>
          <a:prstGeom prst="rect">
            <a:avLst/>
          </a:prstGeom>
          <a:solidFill>
            <a:srgbClr val="2D2D2D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800600" y="3063240"/>
            <a:ext cx="54864" cy="137160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9" name="Text 17"/>
          <p:cNvSpPr/>
          <p:nvPr/>
        </p:nvSpPr>
        <p:spPr>
          <a:xfrm>
            <a:off x="4983480" y="32461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6BB6A"/>
                </a:solidFill>
              </a:rPr>
              <a:t>💡  Actionable Insights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983480" y="365760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</a:rPr>
              <a:t>Identify which advertising channels drive the highest sales ROI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320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2E7D32"/>
                </a:solidFill>
              </a:rPr>
              <a:t>DATASET &amp; FEATURES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20040" y="7132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Advertising.csv — Input &amp; Target Variables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508760"/>
            <a:ext cx="1965960" cy="2194560"/>
          </a:xfrm>
          <a:prstGeom prst="rect">
            <a:avLst/>
          </a:prstGeom>
          <a:solidFill>
            <a:srgbClr val="2D2D2D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508760"/>
            <a:ext cx="1965960" cy="54864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69164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7D32"/>
                </a:solidFill>
              </a:rPr>
              <a:t>📺  TV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219456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5F5"/>
                </a:solidFill>
              </a:rPr>
              <a:t>Television ad budget (USD '000s)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324612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6BB6A"/>
                </a:solidFill>
              </a:rPr>
              <a:t>INPUT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468880" y="1508760"/>
            <a:ext cx="1965960" cy="2194560"/>
          </a:xfrm>
          <a:prstGeom prst="rect">
            <a:avLst/>
          </a:prstGeom>
          <a:solidFill>
            <a:srgbClr val="2D2D2D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68880" y="1508760"/>
            <a:ext cx="1965960" cy="54864"/>
          </a:xfrm>
          <a:prstGeom prst="rect">
            <a:avLst/>
          </a:prstGeom>
          <a:solidFill>
            <a:srgbClr val="66BB6A"/>
          </a:solidFill>
          <a:ln/>
        </p:spPr>
      </p:sp>
      <p:sp>
        <p:nvSpPr>
          <p:cNvPr id="12" name="Text 10"/>
          <p:cNvSpPr/>
          <p:nvPr/>
        </p:nvSpPr>
        <p:spPr>
          <a:xfrm>
            <a:off x="2606040" y="169164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6BB6A"/>
                </a:solidFill>
              </a:rPr>
              <a:t>📻  Radio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606040" y="219456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5F5"/>
                </a:solidFill>
              </a:rPr>
              <a:t>Radio ad budget (USD '000s)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606040" y="324612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6BB6A"/>
                </a:solidFill>
              </a:rPr>
              <a:t>INPUT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17720" y="1508760"/>
            <a:ext cx="1965960" cy="2194560"/>
          </a:xfrm>
          <a:prstGeom prst="rect">
            <a:avLst/>
          </a:prstGeom>
          <a:solidFill>
            <a:srgbClr val="2D2D2D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17720" y="1508760"/>
            <a:ext cx="1965960" cy="54864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17" name="Text 15"/>
          <p:cNvSpPr/>
          <p:nvPr/>
        </p:nvSpPr>
        <p:spPr>
          <a:xfrm>
            <a:off x="4754880" y="169164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9A825"/>
                </a:solidFill>
              </a:rPr>
              <a:t>📰  Newspaper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754880" y="219456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5F5"/>
                </a:solidFill>
              </a:rPr>
              <a:t>Newspaper ad budget (USD '000s)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54880" y="324612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6BB6A"/>
                </a:solidFill>
              </a:rPr>
              <a:t>INPUT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766560" y="1508760"/>
            <a:ext cx="1965960" cy="2194560"/>
          </a:xfrm>
          <a:prstGeom prst="rect">
            <a:avLst/>
          </a:prstGeom>
          <a:solidFill>
            <a:srgbClr val="2D2D2D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766560" y="1508760"/>
            <a:ext cx="1965960" cy="54864"/>
          </a:xfrm>
          <a:prstGeom prst="rect">
            <a:avLst/>
          </a:prstGeom>
          <a:solidFill>
            <a:srgbClr val="E53935"/>
          </a:solidFill>
          <a:ln/>
        </p:spPr>
      </p:sp>
      <p:sp>
        <p:nvSpPr>
          <p:cNvPr id="22" name="Text 20"/>
          <p:cNvSpPr/>
          <p:nvPr/>
        </p:nvSpPr>
        <p:spPr>
          <a:xfrm>
            <a:off x="6903720" y="169164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53935"/>
                </a:solidFill>
              </a:rPr>
              <a:t>📈  Sales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903720" y="219456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5F5"/>
                </a:solidFill>
              </a:rPr>
              <a:t>Target — units sold (USD '000s)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903720" y="324612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53935"/>
                </a:solidFill>
              </a:rPr>
              <a:t>TARGET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0040" y="3977640"/>
            <a:ext cx="8503920" cy="868680"/>
          </a:xfrm>
          <a:prstGeom prst="rect">
            <a:avLst/>
          </a:prstGeom>
          <a:solidFill>
            <a:srgbClr val="2D2D2D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57200" y="41605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200 Rows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2606040" y="41605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 Columns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754880" y="41605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No Missing Values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903720" y="41605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Scaled with StandardScaler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320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2E7D32"/>
                </a:solidFill>
              </a:rPr>
              <a:t>MODEL PERFORMANCE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20040" y="7132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Linear Regression — Evaluation Metrics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508760"/>
            <a:ext cx="1965960" cy="1828800"/>
          </a:xfrm>
          <a:prstGeom prst="rect">
            <a:avLst/>
          </a:prstGeom>
          <a:solidFill>
            <a:srgbClr val="2D2D2D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508760"/>
            <a:ext cx="1965960" cy="73152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169164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7D32"/>
                </a:solidFill>
              </a:rPr>
              <a:t>MAE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11480" y="214884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1.4749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411480" y="283464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9E9E"/>
                </a:solidFill>
              </a:rPr>
              <a:t>Mean Absolute Error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468880" y="1508760"/>
            <a:ext cx="1965960" cy="1828800"/>
          </a:xfrm>
          <a:prstGeom prst="rect">
            <a:avLst/>
          </a:prstGeom>
          <a:solidFill>
            <a:srgbClr val="2D2D2D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68880" y="1508760"/>
            <a:ext cx="1965960" cy="73152"/>
          </a:xfrm>
          <a:prstGeom prst="rect">
            <a:avLst/>
          </a:prstGeom>
          <a:solidFill>
            <a:srgbClr val="66BB6A"/>
          </a:solidFill>
          <a:ln/>
        </p:spPr>
      </p:sp>
      <p:sp>
        <p:nvSpPr>
          <p:cNvPr id="12" name="Text 10"/>
          <p:cNvSpPr/>
          <p:nvPr/>
        </p:nvSpPr>
        <p:spPr>
          <a:xfrm>
            <a:off x="2560320" y="169164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6BB6A"/>
                </a:solidFill>
              </a:rPr>
              <a:t>RMSE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560320" y="214884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1.8093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2560320" y="283464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9E9E"/>
                </a:solidFill>
              </a:rPr>
              <a:t>Root Mean Squared Error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17720" y="1508760"/>
            <a:ext cx="1965960" cy="1828800"/>
          </a:xfrm>
          <a:prstGeom prst="rect">
            <a:avLst/>
          </a:prstGeom>
          <a:solidFill>
            <a:srgbClr val="2D2D2D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17720" y="1508760"/>
            <a:ext cx="1965960" cy="73152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17" name="Text 15"/>
          <p:cNvSpPr/>
          <p:nvPr/>
        </p:nvSpPr>
        <p:spPr>
          <a:xfrm>
            <a:off x="4709160" y="169164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9A825"/>
                </a:solidFill>
              </a:rPr>
              <a:t>R² Test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709160" y="214884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0.8992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4709160" y="283464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9E9E"/>
                </a:solidFill>
              </a:rPr>
              <a:t>Test Set Accuracy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766560" y="1508760"/>
            <a:ext cx="1965960" cy="1828800"/>
          </a:xfrm>
          <a:prstGeom prst="rect">
            <a:avLst/>
          </a:prstGeom>
          <a:solidFill>
            <a:srgbClr val="2D2D2D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766560" y="1508760"/>
            <a:ext cx="1965960" cy="73152"/>
          </a:xfrm>
          <a:prstGeom prst="rect">
            <a:avLst/>
          </a:prstGeom>
          <a:solidFill>
            <a:srgbClr val="E53935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0" y="169164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53935"/>
                </a:solidFill>
              </a:rPr>
              <a:t>R² Train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858000" y="214884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0.9012</a:t>
            </a:r>
            <a:endParaRPr lang="en-US" sz="3200" dirty="0"/>
          </a:p>
        </p:txBody>
      </p:sp>
      <p:sp>
        <p:nvSpPr>
          <p:cNvPr id="24" name="Text 22"/>
          <p:cNvSpPr/>
          <p:nvPr/>
        </p:nvSpPr>
        <p:spPr>
          <a:xfrm>
            <a:off x="6858000" y="283464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9E9E"/>
                </a:solidFill>
              </a:rPr>
              <a:t>Train Set Accuracy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0040" y="3611880"/>
            <a:ext cx="8503920" cy="1234440"/>
          </a:xfrm>
          <a:prstGeom prst="rect">
            <a:avLst/>
          </a:prstGeom>
          <a:solidFill>
            <a:srgbClr val="2D2D2D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0040" y="3611880"/>
            <a:ext cx="54864" cy="1234440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27" name="Text 25"/>
          <p:cNvSpPr/>
          <p:nvPr/>
        </p:nvSpPr>
        <p:spPr>
          <a:xfrm>
            <a:off x="502920" y="3703320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A825"/>
                </a:solidFill>
              </a:rPr>
              <a:t>📌  Model Interpretation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02920" y="4096512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5F5F5"/>
                </a:solidFill>
              </a:rPr>
              <a:t>The model achieves ~90% accuracy (R²) on both training and test sets, indicating excellent fit with minimal overfitting. An RMSE of 1.81 means predictions are off by about $1,810 on average — well within acceptable business tolerance.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320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2E7D32"/>
                </a:solidFill>
              </a:rPr>
              <a:t>ADVERTISING IMPACT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20040" y="7132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Which Channel Drives Sales?</a:t>
            </a:r>
            <a:endParaRPr lang="en-US" sz="26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20040" y="1371600"/>
          <a:ext cx="475488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349240" y="1371600"/>
            <a:ext cx="3474720" cy="960120"/>
          </a:xfrm>
          <a:prstGeom prst="rect">
            <a:avLst/>
          </a:prstGeom>
          <a:solidFill>
            <a:srgbClr val="2D2D2D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5532120" y="1444752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6BB6A"/>
                </a:solidFill>
              </a:rPr>
              <a:t>📺  TV Ads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532120" y="1828800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5F5F5"/>
                </a:solidFill>
              </a:rPr>
              <a:t>Coef: 3.91 — Strongest predictor — every unit increase in TV budget adds ~3.91 units in sales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5349240" y="2450592"/>
            <a:ext cx="3474720" cy="960120"/>
          </a:xfrm>
          <a:prstGeom prst="rect">
            <a:avLst/>
          </a:prstGeom>
          <a:solidFill>
            <a:srgbClr val="2D2D2D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5532120" y="2523744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6BB6A"/>
                </a:solidFill>
              </a:rPr>
              <a:t>📻  Radio Ads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532120" y="2907792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5F5F5"/>
                </a:solidFill>
              </a:rPr>
              <a:t>Coef: 2.80 — Strong secondary driver — highly cost-effective channel for boosting sales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5349240" y="3529584"/>
            <a:ext cx="3474720" cy="960120"/>
          </a:xfrm>
          <a:prstGeom prst="rect">
            <a:avLst/>
          </a:prstGeom>
          <a:solidFill>
            <a:srgbClr val="2D2D2D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5532120" y="3602736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6BB6A"/>
                </a:solidFill>
              </a:rPr>
              <a:t>📰  Newspaper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5532120" y="3986784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5F5F5"/>
                </a:solidFill>
              </a:rPr>
              <a:t>Coef: 0.05 — Minimal impact — coefficient near zero; limited ROI vs TV and Radio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320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2E7D32"/>
                </a:solidFill>
              </a:rPr>
              <a:t>SALES FORECAST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20040" y="7132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Predicting Future Sales — Sample Scenario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463040"/>
            <a:ext cx="3840480" cy="3200400"/>
          </a:xfrm>
          <a:prstGeom prst="rect">
            <a:avLst/>
          </a:prstGeom>
          <a:solidFill>
            <a:srgbClr val="2D2D2D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463040"/>
            <a:ext cx="3840480" cy="73152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60020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6BB6A"/>
                </a:solidFill>
              </a:rPr>
              <a:t>🔢  Input Budget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21488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5F5"/>
                </a:solidFill>
              </a:rPr>
              <a:t>📺  TV Budget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743200" y="2148840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66BB6A"/>
                </a:solidFill>
              </a:rPr>
              <a:t>$230,000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28346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5F5"/>
                </a:solidFill>
              </a:rPr>
              <a:t>📻  Radio Budget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743200" y="2834640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66BB6A"/>
                </a:solidFill>
              </a:rPr>
              <a:t>$37,000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35204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5F5"/>
                </a:solidFill>
              </a:rPr>
              <a:t>📰  Newspaper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743200" y="3520440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66BB6A"/>
                </a:solidFill>
              </a:rPr>
              <a:t>$69,000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0" y="1463040"/>
            <a:ext cx="4251960" cy="3200400"/>
          </a:xfrm>
          <a:prstGeom prst="rect">
            <a:avLst/>
          </a:prstGeom>
          <a:solidFill>
            <a:srgbClr val="2D2D2D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0" y="1463040"/>
            <a:ext cx="4251960" cy="73152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16" name="Text 14"/>
          <p:cNvSpPr/>
          <p:nvPr/>
        </p:nvSpPr>
        <p:spPr>
          <a:xfrm>
            <a:off x="4754880" y="160020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A825"/>
                </a:solidFill>
              </a:rPr>
              <a:t>🎯  Predicted Sales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754880" y="210312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FFFF"/>
                </a:solidFill>
              </a:rPr>
              <a:t>20.34</a:t>
            </a:r>
            <a:endParaRPr lang="en-US" sz="7200" dirty="0"/>
          </a:p>
        </p:txBody>
      </p:sp>
      <p:sp>
        <p:nvSpPr>
          <p:cNvPr id="18" name="Text 16"/>
          <p:cNvSpPr/>
          <p:nvPr/>
        </p:nvSpPr>
        <p:spPr>
          <a:xfrm>
            <a:off x="4754880" y="31089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9E9E9E"/>
                </a:solidFill>
              </a:rPr>
              <a:t>Estimated Units (×1,000)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754880" y="356616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6BB6A"/>
                </a:solidFill>
              </a:rPr>
              <a:t>≈  $20,340 in Revenue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754880" y="411480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E9E9E"/>
                </a:solidFill>
              </a:rPr>
              <a:t>Formula: Sales = TV×3.91 + Radio×2.80 + Newspaper×0.05 + intercept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320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2E7D32"/>
                </a:solidFill>
              </a:rPr>
              <a:t>BUSINESS INSIGHTS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20040" y="7132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Actionable Recommendations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508760"/>
            <a:ext cx="4160520" cy="1463040"/>
          </a:xfrm>
          <a:prstGeom prst="rect">
            <a:avLst/>
          </a:prstGeom>
          <a:solidFill>
            <a:srgbClr val="2D2D2D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508760"/>
            <a:ext cx="54864" cy="146304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61848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7D32"/>
                </a:solidFill>
              </a:rPr>
              <a:t>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33272" y="16459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32"/>
                </a:solidFill>
              </a:rPr>
              <a:t>Prioritize TV Advertising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214884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5F5"/>
                </a:solidFill>
              </a:rPr>
              <a:t>TV has the highest regression coefficient (3.91). Brands should allocate the largest share of their ad budget to TV to maximize sales uplift.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1508760"/>
            <a:ext cx="4160520" cy="1463040"/>
          </a:xfrm>
          <a:prstGeom prst="rect">
            <a:avLst/>
          </a:prstGeom>
          <a:solidFill>
            <a:srgbClr val="2D2D2D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508760"/>
            <a:ext cx="54864" cy="1463040"/>
          </a:xfrm>
          <a:prstGeom prst="rect">
            <a:avLst/>
          </a:prstGeom>
          <a:solidFill>
            <a:srgbClr val="66BB6A"/>
          </a:solidFill>
          <a:ln/>
        </p:spPr>
      </p:sp>
      <p:sp>
        <p:nvSpPr>
          <p:cNvPr id="12" name="Text 10"/>
          <p:cNvSpPr/>
          <p:nvPr/>
        </p:nvSpPr>
        <p:spPr>
          <a:xfrm>
            <a:off x="4937760" y="161848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6BB6A"/>
                </a:solidFill>
              </a:rPr>
              <a:t>02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468112" y="16459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6BB6A"/>
                </a:solidFill>
              </a:rPr>
              <a:t>Leverage Radio as a Secondary Driver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937760" y="214884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5F5"/>
                </a:solidFill>
              </a:rPr>
              <a:t>Radio delivers strong ROI with a coefficient of 2.80. It's a cost-effective complement to TV campaigns — especially for mid-range budgets.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0040" y="3154680"/>
            <a:ext cx="4160520" cy="1463040"/>
          </a:xfrm>
          <a:prstGeom prst="rect">
            <a:avLst/>
          </a:prstGeom>
          <a:solidFill>
            <a:srgbClr val="2D2D2D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" y="3154680"/>
            <a:ext cx="54864" cy="1463040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326440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9A825"/>
                </a:solidFill>
              </a:rPr>
              <a:t>03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033272" y="32918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A825"/>
                </a:solidFill>
              </a:rPr>
              <a:t>Reduce Newspaper Spend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02920" y="379476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5F5"/>
                </a:solidFill>
              </a:rPr>
              <a:t>Newspaper has a near-zero impact (0.05). Budget currently allocated here should be reallocated to TV or Radio for a measurable sales boost.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54880" y="3154680"/>
            <a:ext cx="4160520" cy="1463040"/>
          </a:xfrm>
          <a:prstGeom prst="rect">
            <a:avLst/>
          </a:prstGeom>
          <a:solidFill>
            <a:srgbClr val="2D2D2D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0" y="3154680"/>
            <a:ext cx="54864" cy="1463040"/>
          </a:xfrm>
          <a:prstGeom prst="rect">
            <a:avLst/>
          </a:prstGeom>
          <a:solidFill>
            <a:srgbClr val="E53935"/>
          </a:solidFill>
          <a:ln/>
        </p:spPr>
      </p:sp>
      <p:sp>
        <p:nvSpPr>
          <p:cNvPr id="22" name="Text 20"/>
          <p:cNvSpPr/>
          <p:nvPr/>
        </p:nvSpPr>
        <p:spPr>
          <a:xfrm>
            <a:off x="4937760" y="326440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53935"/>
                </a:solidFill>
              </a:rPr>
              <a:t>04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5468112" y="32918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53935"/>
                </a:solidFill>
              </a:rPr>
              <a:t>Use the Model for Budget Planning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937760" y="379476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5F5"/>
                </a:solidFill>
              </a:rPr>
              <a:t>With R² ≈ 0.90, the model reliably forecasts sales from ad budgets — enabling data-driven quarterly marketing planning and ROI simulations.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" name="Shape 1"/>
          <p:cNvSpPr/>
          <p:nvPr/>
        </p:nvSpPr>
        <p:spPr>
          <a:xfrm>
            <a:off x="7132320" y="2926080"/>
            <a:ext cx="2926080" cy="2926080"/>
          </a:xfrm>
          <a:prstGeom prst="ellipse">
            <a:avLst/>
          </a:prstGeom>
          <a:solidFill>
            <a:srgbClr val="2E7D32">
              <a:alpha val="15000"/>
            </a:srgbClr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457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2E7D32"/>
                </a:solidFill>
              </a:rPr>
              <a:t>CONCLUSION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20040" y="8686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Summary &amp; Key Takeaways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20040" y="1627632"/>
            <a:ext cx="8229600" cy="475488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673352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5F5"/>
                </a:solidFill>
              </a:rPr>
              <a:t>✅  Linear Regression achieved ~90% accuracy (R² = 0.90) with low error rates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040" y="2176272"/>
            <a:ext cx="8229600" cy="475488"/>
          </a:xfrm>
          <a:prstGeom prst="rect">
            <a:avLst/>
          </a:prstGeom>
          <a:solidFill>
            <a:srgbClr val="172033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2221992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5F5"/>
                </a:solidFill>
              </a:rPr>
              <a:t>📺  TV advertising is the most impactful sales driver (Coef: 3.91)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0040" y="2724912"/>
            <a:ext cx="8229600" cy="475488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2770632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5F5"/>
                </a:solidFill>
              </a:rPr>
              <a:t>📻  Radio is a strong secondary driver offering excellent cost efficiency (Coef: 2.80)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20040" y="3273552"/>
            <a:ext cx="8229600" cy="475488"/>
          </a:xfrm>
          <a:prstGeom prst="rect">
            <a:avLst/>
          </a:prstGeom>
          <a:solidFill>
            <a:srgbClr val="172033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3319272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5F5"/>
                </a:solidFill>
              </a:rPr>
              <a:t>📰  Newspaper spend has negligible impact — budget reallocation is advised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20040" y="3822192"/>
            <a:ext cx="8229600" cy="475488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3867912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5F5"/>
                </a:solidFill>
              </a:rPr>
              <a:t>🤖  Streamlit app enables real-time sales forecasting from any budget scenario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20040" y="4370832"/>
            <a:ext cx="8229600" cy="475488"/>
          </a:xfrm>
          <a:prstGeom prst="rect">
            <a:avLst/>
          </a:prstGeom>
          <a:solidFill>
            <a:srgbClr val="172033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4416552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5F5"/>
                </a:solidFill>
              </a:rPr>
              <a:t>📈  Model enables strategic data-driven marketing spend decisions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Sales Prediction – Advertising Analytics</dc:title>
  <dc:subject>PptxGenJS Presentation</dc:subject>
  <dc:creator>PptxGenJS</dc:creator>
  <cp:lastModifiedBy>PptxGenJS</cp:lastModifiedBy>
  <cp:revision>1</cp:revision>
  <dcterms:created xsi:type="dcterms:W3CDTF">2026-05-28T14:35:50Z</dcterms:created>
  <dcterms:modified xsi:type="dcterms:W3CDTF">2026-05-28T14:35:50Z</dcterms:modified>
</cp:coreProperties>
</file>